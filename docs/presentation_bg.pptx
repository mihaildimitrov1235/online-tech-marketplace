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7"/>
  </p:notesMasterIdLst>
  <p:sldIdLst>
    <p:sldId id="256" r:id="rId2"/>
    <p:sldId id="261" r:id="rId3"/>
    <p:sldId id="297" r:id="rId4"/>
    <p:sldId id="299" r:id="rId5"/>
    <p:sldId id="260" r:id="rId6"/>
  </p:sldIdLst>
  <p:sldSz cx="9144000" cy="5143500" type="screen16x9"/>
  <p:notesSz cx="6858000" cy="9144000"/>
  <p:embeddedFontLst>
    <p:embeddedFont>
      <p:font typeface="Hanken Grotesk" panose="020B0604020202020204" charset="0"/>
      <p:regular r:id="rId8"/>
      <p:bold r:id="rId9"/>
      <p:italic r:id="rId10"/>
      <p:boldItalic r:id="rId11"/>
    </p:embeddedFont>
    <p:embeddedFont>
      <p:font typeface="Raleway Black" pitchFamily="2" charset="0"/>
      <p:bold r:id="rId12"/>
      <p:boldItalic r:id="rId13"/>
    </p:embeddedFont>
    <p:embeddedFont>
      <p:font typeface="Raleway ExtraBold" panose="020F0502020204030204" pitchFamily="2" charset="0"/>
      <p:bold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E3412BA-0D21-415C-B296-41BAB01AF0A4}">
  <a:tblStyle styleId="{BE3412BA-0D21-415C-B296-41BAB01AF0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9438F51-4DA1-4EC1-AFF7-49FB13C8737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1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2576a45fa49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2576a45fa49_2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F4520BE0-DCC9-C4F5-F1E5-045C43785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18AA7282-8696-921F-5B98-CC723C943A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4E3D097F-113B-FA11-D46C-EC4CBA229D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28977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6">
          <a:extLst>
            <a:ext uri="{FF2B5EF4-FFF2-40B4-BE49-F238E27FC236}">
              <a16:creationId xmlns:a16="http://schemas.microsoft.com/office/drawing/2014/main" id="{3FCEBB02-D9D3-2678-7A0C-8B2A940DF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54dda1946d_6_332:notes">
            <a:extLst>
              <a:ext uri="{FF2B5EF4-FFF2-40B4-BE49-F238E27FC236}">
                <a16:creationId xmlns:a16="http://schemas.microsoft.com/office/drawing/2014/main" id="{8FCEF81B-127B-43CD-ADC2-0ADD76AF78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54dda1946d_6_332:notes">
            <a:extLst>
              <a:ext uri="{FF2B5EF4-FFF2-40B4-BE49-F238E27FC236}">
                <a16:creationId xmlns:a16="http://schemas.microsoft.com/office/drawing/2014/main" id="{FE11CCC0-1AD8-54C9-BC08-8EA5D25AB4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1818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avLst/>
              <a:gdLst/>
              <a:ahLst/>
              <a:cxnLst/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avLst/>
              <a:gdLst/>
              <a:ahLst/>
              <a:cxnLst/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avLst/>
              <a:gdLst/>
              <a:ahLst/>
              <a:cxnLst/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4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000"/>
              <a:buNone/>
              <a:defRPr sz="7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avLst/>
                <a:gdLst/>
                <a:ahLst/>
                <a:cxnLst/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avLst/>
                <a:gdLst/>
                <a:ahLst/>
                <a:cxnLst/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avLst/>
              <a:gdLst/>
              <a:ahLst/>
              <a:cxnLst/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avLst/>
              <a:gdLst/>
              <a:ahLst/>
              <a:cxnLst/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avLst/>
                <a:gdLst/>
                <a:ahLst/>
                <a:cxnLst/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avLst/>
                <a:gdLst/>
                <a:ahLst/>
                <a:cxnLst/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avLst/>
              <a:gdLst/>
              <a:ahLst/>
              <a:cxnLst/>
              <a:rect l="l" t="t" r="r" b="b"/>
              <a:pathLst>
                <a:path w="130255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avLst/>
              <a:gdLst/>
              <a:ahLst/>
              <a:cxnLst/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4" r:id="rId4"/>
    <p:sldLayoutId id="2147483655" r:id="rId5"/>
    <p:sldLayoutId id="2147483656" r:id="rId6"/>
    <p:sldLayoutId id="2147483658" r:id="rId7"/>
    <p:sldLayoutId id="2147483669" r:id="rId8"/>
    <p:sldLayoutId id="214748367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8"/>
          <p:cNvSpPr txBox="1">
            <a:spLocks noGrp="1"/>
          </p:cNvSpPr>
          <p:nvPr>
            <p:ph type="ctrTitle"/>
          </p:nvPr>
        </p:nvSpPr>
        <p:spPr>
          <a:xfrm>
            <a:off x="1191715" y="2011139"/>
            <a:ext cx="4384800" cy="7376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TECHMARKET</a:t>
            </a:r>
            <a:endParaRPr dirty="0"/>
          </a:p>
        </p:txBody>
      </p:sp>
      <p:sp>
        <p:nvSpPr>
          <p:cNvPr id="663" name="Google Shape;663;p28"/>
          <p:cNvSpPr txBox="1">
            <a:spLocks noGrp="1"/>
          </p:cNvSpPr>
          <p:nvPr>
            <p:ph type="subTitle" idx="1"/>
          </p:nvPr>
        </p:nvSpPr>
        <p:spPr>
          <a:xfrm>
            <a:off x="1253532" y="2748822"/>
            <a:ext cx="4384800" cy="3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От Михаил Димитров и Мирослав Балев</a:t>
            </a:r>
            <a:endParaRPr dirty="0"/>
          </a:p>
        </p:txBody>
      </p:sp>
      <p:sp>
        <p:nvSpPr>
          <p:cNvPr id="664" name="Google Shape;664;p28"/>
          <p:cNvSpPr/>
          <p:nvPr/>
        </p:nvSpPr>
        <p:spPr>
          <a:xfrm rot="-5400000">
            <a:off x="689075" y="2215534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5" name="Google Shape;665;p28"/>
          <p:cNvGrpSpPr/>
          <p:nvPr/>
        </p:nvGrpSpPr>
        <p:grpSpPr>
          <a:xfrm>
            <a:off x="6777434" y="2296620"/>
            <a:ext cx="1033834" cy="3360485"/>
            <a:chOff x="6777434" y="2296620"/>
            <a:chExt cx="1033834" cy="3360485"/>
          </a:xfrm>
        </p:grpSpPr>
        <p:grpSp>
          <p:nvGrpSpPr>
            <p:cNvPr id="666" name="Google Shape;666;p28"/>
            <p:cNvGrpSpPr/>
            <p:nvPr/>
          </p:nvGrpSpPr>
          <p:grpSpPr>
            <a:xfrm rot="10800000">
              <a:off x="6777434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667" name="Google Shape;667;p28"/>
              <p:cNvCxnSpPr/>
              <p:nvPr/>
            </p:nvCxnSpPr>
            <p:spPr>
              <a:xfrm rot="10800000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8" name="Google Shape;668;p2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669" name="Google Shape;669;p2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avLst/>
                <a:gdLst/>
                <a:ahLst/>
                <a:cxnLst/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670" name="Google Shape;670;p28"/>
            <p:cNvSpPr/>
            <p:nvPr/>
          </p:nvSpPr>
          <p:spPr>
            <a:xfrm>
              <a:off x="7771212" y="2972936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8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8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3" name="Google Shape;673;p28"/>
          <p:cNvGrpSpPr/>
          <p:nvPr/>
        </p:nvGrpSpPr>
        <p:grpSpPr>
          <a:xfrm>
            <a:off x="6262859" y="-2197955"/>
            <a:ext cx="681217" cy="3360485"/>
            <a:chOff x="1337800" y="-2525590"/>
            <a:chExt cx="1498167" cy="7390555"/>
          </a:xfrm>
        </p:grpSpPr>
        <p:cxnSp>
          <p:nvCxnSpPr>
            <p:cNvPr id="674" name="Google Shape;674;p28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5" name="Google Shape;675;p28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76" name="Google Shape;676;p28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7" name="Google Shape;677;p28"/>
          <p:cNvSpPr/>
          <p:nvPr/>
        </p:nvSpPr>
        <p:spPr>
          <a:xfrm rot="-5400000">
            <a:off x="8215875" y="805548"/>
            <a:ext cx="40056" cy="440880"/>
          </a:xfrm>
          <a:custGeom>
            <a:avLst/>
            <a:gdLst/>
            <a:ahLst/>
            <a:cxnLst/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8" name="Google Shape;678;p28"/>
          <p:cNvGrpSpPr/>
          <p:nvPr/>
        </p:nvGrpSpPr>
        <p:grpSpPr>
          <a:xfrm rot="10800000" flipH="1">
            <a:off x="-2068288" y="305430"/>
            <a:ext cx="4791669" cy="923822"/>
            <a:chOff x="-78438" y="3775205"/>
            <a:chExt cx="4791669" cy="923822"/>
          </a:xfrm>
        </p:grpSpPr>
        <p:cxnSp>
          <p:nvCxnSpPr>
            <p:cNvPr id="679" name="Google Shape;679;p28"/>
            <p:cNvCxnSpPr/>
            <p:nvPr/>
          </p:nvCxnSpPr>
          <p:spPr>
            <a:xfrm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0" name="Google Shape;680;p2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81" name="Google Shape;681;p28"/>
            <p:cNvSpPr/>
            <p:nvPr/>
          </p:nvSpPr>
          <p:spPr>
            <a:xfrm>
              <a:off x="4519806" y="3775205"/>
              <a:ext cx="193425" cy="191350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2" name="Google Shape;682;p28"/>
          <p:cNvGrpSpPr/>
          <p:nvPr/>
        </p:nvGrpSpPr>
        <p:grpSpPr>
          <a:xfrm>
            <a:off x="3329300" y="-3035953"/>
            <a:ext cx="6471825" cy="4623428"/>
            <a:chOff x="3329300" y="-3035953"/>
            <a:chExt cx="6471825" cy="4623428"/>
          </a:xfrm>
        </p:grpSpPr>
        <p:grpSp>
          <p:nvGrpSpPr>
            <p:cNvPr id="683" name="Google Shape;683;p28"/>
            <p:cNvGrpSpPr/>
            <p:nvPr/>
          </p:nvGrpSpPr>
          <p:grpSpPr>
            <a:xfrm rot="5400000">
              <a:off x="2802525" y="-1414050"/>
              <a:ext cx="3859204" cy="615399"/>
              <a:chOff x="-6675" y="307100"/>
              <a:chExt cx="9140700" cy="4634025"/>
            </a:xfrm>
          </p:grpSpPr>
          <p:cxnSp>
            <p:nvCxnSpPr>
              <p:cNvPr id="684" name="Google Shape;684;p2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7" name="Google Shape;687;p2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8" name="Google Shape;688;p2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9" name="Google Shape;689;p2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0" name="Google Shape;690;p2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1" name="Google Shape;691;p2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2" name="Google Shape;692;p2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3" name="Google Shape;693;p2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94" name="Google Shape;694;p28"/>
            <p:cNvSpPr/>
            <p:nvPr/>
          </p:nvSpPr>
          <p:spPr>
            <a:xfrm>
              <a:off x="3329300" y="823250"/>
              <a:ext cx="6471825" cy="764225"/>
            </a:xfrm>
            <a:custGeom>
              <a:avLst/>
              <a:gdLst/>
              <a:ahLst/>
              <a:cxnLst/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 err="1"/>
              <a:t>Какво</a:t>
            </a:r>
            <a:r>
              <a:rPr lang="en-US" dirty="0"/>
              <a:t> е </a:t>
            </a:r>
            <a:r>
              <a:rPr lang="en-US" dirty="0" err="1"/>
              <a:t>TechMarket</a:t>
            </a:r>
            <a:r>
              <a:rPr lang="en-US" dirty="0"/>
              <a:t>?</a:t>
            </a:r>
            <a:endParaRPr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E77511DE-CDC1-5232-2507-5B11EAB0BFA9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20000" y="1312606"/>
            <a:ext cx="7229380" cy="338586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Уеб</a:t>
            </a:r>
            <a:r>
              <a:rPr lang="en-US" sz="2000" dirty="0"/>
              <a:t> </a:t>
            </a:r>
            <a:r>
              <a:rPr lang="en-US" sz="2000" dirty="0" err="1"/>
              <a:t>платформа</a:t>
            </a:r>
            <a:r>
              <a:rPr lang="en-US" sz="2000" dirty="0"/>
              <a:t> </a:t>
            </a:r>
            <a:r>
              <a:rPr lang="en-US" sz="2000" dirty="0" err="1"/>
              <a:t>за</a:t>
            </a:r>
            <a:r>
              <a:rPr lang="en-US" sz="2000" dirty="0"/>
              <a:t> </a:t>
            </a:r>
            <a:r>
              <a:rPr lang="en-US" sz="2000" dirty="0" err="1"/>
              <a:t>продажба</a:t>
            </a:r>
            <a:r>
              <a:rPr lang="en-US" sz="2000" dirty="0"/>
              <a:t> на </a:t>
            </a:r>
            <a:r>
              <a:rPr lang="en-US" sz="2000" dirty="0" err="1"/>
              <a:t>технологични</a:t>
            </a:r>
            <a:r>
              <a:rPr lang="en-US" sz="2000" dirty="0"/>
              <a:t> </a:t>
            </a:r>
            <a:r>
              <a:rPr lang="en-US" sz="2000" dirty="0" err="1"/>
              <a:t>продукти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Поддържа</a:t>
            </a:r>
            <a:r>
              <a:rPr lang="en-US" sz="2000" dirty="0"/>
              <a:t> </a:t>
            </a:r>
            <a:r>
              <a:rPr lang="en-US" sz="2000" dirty="0" err="1"/>
              <a:t>конфигурации</a:t>
            </a:r>
            <a:r>
              <a:rPr lang="en-US" sz="2000" dirty="0"/>
              <a:t> </a:t>
            </a:r>
            <a:r>
              <a:rPr lang="en-US" sz="2000" dirty="0" err="1"/>
              <a:t>от</a:t>
            </a:r>
            <a:r>
              <a:rPr lang="en-US" sz="2000" dirty="0"/>
              <a:t> </a:t>
            </a:r>
            <a:r>
              <a:rPr lang="en-US" sz="2000" dirty="0" err="1"/>
              <a:t>множество</a:t>
            </a:r>
            <a:r>
              <a:rPr lang="en-US" sz="2000" dirty="0"/>
              <a:t> </a:t>
            </a:r>
            <a:r>
              <a:rPr lang="en-US" sz="2000" dirty="0" err="1"/>
              <a:t>продукти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4 </a:t>
            </a:r>
            <a:r>
              <a:rPr lang="en-US" sz="2000" dirty="0" err="1"/>
              <a:t>роли</a:t>
            </a:r>
            <a:r>
              <a:rPr lang="en-US" sz="2000" dirty="0"/>
              <a:t>: </a:t>
            </a:r>
            <a:r>
              <a:rPr lang="en-US" sz="2000" dirty="0" err="1"/>
              <a:t>Купувач</a:t>
            </a:r>
            <a:r>
              <a:rPr lang="en-US" sz="2000" dirty="0"/>
              <a:t>, </a:t>
            </a:r>
            <a:r>
              <a:rPr lang="en-US" sz="2000" dirty="0" err="1"/>
              <a:t>Продавач</a:t>
            </a:r>
            <a:r>
              <a:rPr lang="en-US" sz="2000" dirty="0"/>
              <a:t>, </a:t>
            </a:r>
            <a:r>
              <a:rPr lang="en-US" sz="2000" dirty="0" err="1"/>
              <a:t>Доставчик</a:t>
            </a:r>
            <a:r>
              <a:rPr lang="en-US" sz="2000" dirty="0"/>
              <a:t>, </a:t>
            </a:r>
            <a:r>
              <a:rPr lang="en-US" sz="2000" dirty="0" err="1"/>
              <a:t>Администратор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Пълен</a:t>
            </a:r>
            <a:r>
              <a:rPr lang="en-US" sz="2000" dirty="0"/>
              <a:t> </a:t>
            </a:r>
            <a:r>
              <a:rPr lang="en-US" sz="2000" dirty="0" err="1"/>
              <a:t>цикъл</a:t>
            </a:r>
            <a:r>
              <a:rPr lang="en-US" sz="2000" dirty="0"/>
              <a:t>: </a:t>
            </a:r>
            <a:r>
              <a:rPr lang="en-US" sz="2000" dirty="0" err="1"/>
              <a:t>от</a:t>
            </a:r>
            <a:r>
              <a:rPr lang="en-US" sz="2000" dirty="0"/>
              <a:t> </a:t>
            </a:r>
            <a:r>
              <a:rPr lang="en-US" sz="2000" dirty="0" err="1"/>
              <a:t>публикуване</a:t>
            </a:r>
            <a:r>
              <a:rPr lang="en-US" sz="2000" dirty="0"/>
              <a:t> </a:t>
            </a:r>
            <a:r>
              <a:rPr lang="en-US" sz="2000" dirty="0" err="1"/>
              <a:t>до</a:t>
            </a:r>
            <a:r>
              <a:rPr lang="en-US" sz="2000" dirty="0"/>
              <a:t> </a:t>
            </a:r>
            <a:r>
              <a:rPr lang="en-US" sz="2000" dirty="0" err="1"/>
              <a:t>доставка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70A8DA9-EB49-E63E-42EA-2BB85B4A4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A285B5AA-7381-088F-2971-77A61D4F08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Т</a:t>
            </a:r>
            <a:r>
              <a:rPr lang="en-US" dirty="0" err="1"/>
              <a:t>ехнологии</a:t>
            </a:r>
            <a:r>
              <a:rPr lang="en-US" dirty="0"/>
              <a:t> - Frontend</a:t>
            </a:r>
            <a:endParaRPr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28D76529-BAD3-DF93-0F3F-2ED1E916D506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20000" y="1312606"/>
            <a:ext cx="7229380" cy="338586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React</a:t>
            </a:r>
            <a:r>
              <a:rPr lang="en-US" sz="2000" dirty="0"/>
              <a:t> — </a:t>
            </a:r>
            <a:r>
              <a:rPr lang="en-US" sz="2000" dirty="0" err="1"/>
              <a:t>потребителски</a:t>
            </a:r>
            <a:r>
              <a:rPr lang="en-US" sz="2000" dirty="0"/>
              <a:t> </a:t>
            </a:r>
            <a:r>
              <a:rPr lang="en-US" sz="2000" dirty="0" err="1"/>
              <a:t>интерфейс</a:t>
            </a:r>
            <a:r>
              <a:rPr lang="en-US" sz="2000" dirty="0"/>
              <a:t> </a:t>
            </a:r>
            <a:endParaRPr lang="bg-BG" sz="2000" dirty="0"/>
          </a:p>
          <a:p>
            <a:pPr>
              <a:buFont typeface="Arial" panose="020B0604020202020204" pitchFamily="34" charset="0"/>
              <a:buChar char="•"/>
            </a:pPr>
            <a:endParaRPr lang="bg-BG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Redux</a:t>
            </a:r>
            <a:r>
              <a:rPr lang="en-US" sz="2000" dirty="0"/>
              <a:t> — </a:t>
            </a:r>
            <a:r>
              <a:rPr lang="en-US" sz="2000" dirty="0" err="1"/>
              <a:t>управление</a:t>
            </a:r>
            <a:r>
              <a:rPr lang="en-US" sz="2000" dirty="0"/>
              <a:t> на </a:t>
            </a:r>
            <a:r>
              <a:rPr lang="en-US" sz="2000" dirty="0" err="1"/>
              <a:t>състоянието</a:t>
            </a:r>
            <a:r>
              <a:rPr lang="en-US" sz="2000" dirty="0"/>
              <a:t> </a:t>
            </a:r>
            <a:endParaRPr lang="bg-BG" sz="2000" dirty="0"/>
          </a:p>
          <a:p>
            <a:pPr>
              <a:buFont typeface="Arial" panose="020B0604020202020204" pitchFamily="34" charset="0"/>
              <a:buChar char="•"/>
            </a:pPr>
            <a:endParaRPr lang="bg-BG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Tailwind CSS</a:t>
            </a:r>
            <a:r>
              <a:rPr lang="en-US" sz="2000" dirty="0"/>
              <a:t> — </a:t>
            </a:r>
            <a:r>
              <a:rPr lang="en-US" sz="2000" dirty="0" err="1"/>
              <a:t>стилизиране</a:t>
            </a:r>
            <a:r>
              <a:rPr lang="en-US" sz="2000" dirty="0"/>
              <a:t> и </a:t>
            </a:r>
            <a:r>
              <a:rPr lang="en-US" sz="2000" dirty="0" err="1"/>
              <a:t>дизайн</a:t>
            </a:r>
            <a:r>
              <a:rPr lang="en-US" sz="2000" dirty="0"/>
              <a:t> </a:t>
            </a:r>
            <a:endParaRPr lang="bg-BG" sz="2000" dirty="0"/>
          </a:p>
          <a:p>
            <a:pPr>
              <a:buFont typeface="Arial" panose="020B0604020202020204" pitchFamily="34" charset="0"/>
              <a:buChar char="•"/>
            </a:pPr>
            <a:endParaRPr lang="bg-BG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Vite</a:t>
            </a:r>
            <a:r>
              <a:rPr lang="en-US" sz="2000" dirty="0"/>
              <a:t> — build tool </a:t>
            </a:r>
            <a:r>
              <a:rPr lang="en-US" sz="2000" dirty="0" err="1"/>
              <a:t>за</a:t>
            </a:r>
            <a:r>
              <a:rPr lang="en-US" sz="2000" dirty="0"/>
              <a:t> </a:t>
            </a:r>
            <a:r>
              <a:rPr lang="en-US" sz="2000" dirty="0" err="1"/>
              <a:t>бързо</a:t>
            </a:r>
            <a:r>
              <a:rPr lang="en-US" sz="2000" dirty="0"/>
              <a:t> </a:t>
            </a:r>
            <a:r>
              <a:rPr lang="en-US" sz="2000" dirty="0" err="1"/>
              <a:t>зареждане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985917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9">
          <a:extLst>
            <a:ext uri="{FF2B5EF4-FFF2-40B4-BE49-F238E27FC236}">
              <a16:creationId xmlns:a16="http://schemas.microsoft.com/office/drawing/2014/main" id="{009790AD-C8CF-CE25-3511-5C66D8FB1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3">
            <a:extLst>
              <a:ext uri="{FF2B5EF4-FFF2-40B4-BE49-F238E27FC236}">
                <a16:creationId xmlns:a16="http://schemas.microsoft.com/office/drawing/2014/main" id="{81E7612D-7E38-529F-1997-D993E0786C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bg-BG" dirty="0"/>
              <a:t>Т</a:t>
            </a:r>
            <a:r>
              <a:rPr lang="en-US" dirty="0" err="1"/>
              <a:t>ехнологии</a:t>
            </a:r>
            <a:r>
              <a:rPr lang="en-US" dirty="0"/>
              <a:t> - Backend</a:t>
            </a:r>
            <a:endParaRPr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1FCF9F92-6961-846D-BDA9-221A57CE368F}"/>
              </a:ext>
            </a:extLst>
          </p:cNvPr>
          <p:cNvSpPr>
            <a:spLocks noGrp="1"/>
          </p:cNvSpPr>
          <p:nvPr>
            <p:ph type="subTitle" idx="2"/>
          </p:nvPr>
        </p:nvSpPr>
        <p:spPr>
          <a:xfrm>
            <a:off x="720000" y="1312606"/>
            <a:ext cx="7229380" cy="3385869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Node.js + Express</a:t>
            </a:r>
            <a:r>
              <a:rPr lang="en-US" sz="2000" dirty="0"/>
              <a:t> — </a:t>
            </a:r>
            <a:r>
              <a:rPr lang="en-US" sz="2000" dirty="0" err="1"/>
              <a:t>сървър</a:t>
            </a:r>
            <a:r>
              <a:rPr lang="en-US" sz="2000" dirty="0"/>
              <a:t> и REST API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MongoDB + Mongoose</a:t>
            </a:r>
            <a:r>
              <a:rPr lang="en-US" sz="2000" dirty="0"/>
              <a:t> — база </a:t>
            </a:r>
            <a:r>
              <a:rPr lang="en-US" sz="2000" dirty="0" err="1"/>
              <a:t>данни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JWT</a:t>
            </a:r>
            <a:r>
              <a:rPr lang="en-US" sz="2000" dirty="0"/>
              <a:t> — </a:t>
            </a:r>
            <a:r>
              <a:rPr lang="en-US" sz="2000" dirty="0" err="1"/>
              <a:t>удостоверяване</a:t>
            </a:r>
            <a:r>
              <a:rPr lang="en-US" sz="2000" dirty="0"/>
              <a:t> на </a:t>
            </a:r>
            <a:r>
              <a:rPr lang="en-US" sz="2000" dirty="0" err="1"/>
              <a:t>потребители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/>
              <a:t>Bcrypt</a:t>
            </a:r>
            <a:r>
              <a:rPr lang="en-US" sz="2000" dirty="0"/>
              <a:t> — </a:t>
            </a:r>
            <a:r>
              <a:rPr lang="en-US" sz="2000" dirty="0" err="1"/>
              <a:t>хеширане</a:t>
            </a:r>
            <a:r>
              <a:rPr lang="en-US" sz="2000" dirty="0"/>
              <a:t> на </a:t>
            </a:r>
            <a:r>
              <a:rPr lang="en-US" sz="2000" dirty="0" err="1"/>
              <a:t>пароли</a:t>
            </a:r>
            <a:r>
              <a:rPr lang="en-US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 err="1"/>
              <a:t>Backblaze</a:t>
            </a:r>
            <a:r>
              <a:rPr lang="en-US" sz="2000" b="1" dirty="0"/>
              <a:t> B2</a:t>
            </a:r>
            <a:r>
              <a:rPr lang="en-US" sz="2000" dirty="0"/>
              <a:t> — </a:t>
            </a:r>
            <a:r>
              <a:rPr lang="en-US" sz="2000" dirty="0" err="1"/>
              <a:t>съхранение</a:t>
            </a:r>
            <a:r>
              <a:rPr lang="en-US" sz="2000" dirty="0"/>
              <a:t> на </a:t>
            </a:r>
            <a:r>
              <a:rPr lang="en-US" sz="2000" dirty="0" err="1"/>
              <a:t>файлове</a:t>
            </a:r>
            <a:r>
              <a:rPr lang="en-US" sz="2000" dirty="0"/>
              <a:t> и </a:t>
            </a:r>
            <a:r>
              <a:rPr lang="en-US" sz="2000" dirty="0" err="1"/>
              <a:t>изображения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7623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32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bg-BG" dirty="0"/>
              <a:t>Демонстрация</a:t>
            </a:r>
            <a:endParaRPr dirty="0"/>
          </a:p>
        </p:txBody>
      </p:sp>
      <p:sp>
        <p:nvSpPr>
          <p:cNvPr id="741" name="Google Shape;741;p32"/>
          <p:cNvSpPr/>
          <p:nvPr/>
        </p:nvSpPr>
        <p:spPr>
          <a:xfrm rot="-5400000">
            <a:off x="689075" y="2684117"/>
            <a:ext cx="357300" cy="309016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32"/>
          <p:cNvSpPr/>
          <p:nvPr/>
        </p:nvSpPr>
        <p:spPr>
          <a:xfrm>
            <a:off x="7016375" y="-1615175"/>
            <a:ext cx="1633483" cy="5920031"/>
          </a:xfrm>
          <a:custGeom>
            <a:avLst/>
            <a:gdLst/>
            <a:ahLst/>
            <a:cxnLst/>
            <a:rect l="l" t="t" r="r" b="b"/>
            <a:pathLst>
              <a:path w="18075" h="65507" extrusionOk="0">
                <a:moveTo>
                  <a:pt x="0" y="65507"/>
                </a:moveTo>
                <a:lnTo>
                  <a:pt x="18075" y="47432"/>
                </a:lnTo>
                <a:lnTo>
                  <a:pt x="18075" y="0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43" name="Google Shape;743;p32"/>
          <p:cNvGrpSpPr/>
          <p:nvPr/>
        </p:nvGrpSpPr>
        <p:grpSpPr>
          <a:xfrm rot="10800000" flipH="1">
            <a:off x="7968643" y="3562070"/>
            <a:ext cx="681217" cy="3360485"/>
            <a:chOff x="1337800" y="-2525590"/>
            <a:chExt cx="1498167" cy="7390555"/>
          </a:xfrm>
        </p:grpSpPr>
        <p:cxnSp>
          <p:nvCxnSpPr>
            <p:cNvPr id="744" name="Google Shape;744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5" name="Google Shape;745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46" name="Google Shape;746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32"/>
          <p:cNvGrpSpPr/>
          <p:nvPr/>
        </p:nvGrpSpPr>
        <p:grpSpPr>
          <a:xfrm rot="-5400000" flipH="1">
            <a:off x="70043" y="-592705"/>
            <a:ext cx="681217" cy="3360485"/>
            <a:chOff x="1337800" y="-2525590"/>
            <a:chExt cx="1498167" cy="7390555"/>
          </a:xfrm>
        </p:grpSpPr>
        <p:cxnSp>
          <p:nvCxnSpPr>
            <p:cNvPr id="748" name="Google Shape;748;p32"/>
            <p:cNvCxnSpPr/>
            <p:nvPr/>
          </p:nvCxnSpPr>
          <p:spPr>
            <a:xfrm rot="10800000">
              <a:off x="1337800" y="-2525590"/>
              <a:ext cx="0" cy="58707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9" name="Google Shape;749;p32"/>
            <p:cNvCxnSpPr/>
            <p:nvPr/>
          </p:nvCxnSpPr>
          <p:spPr>
            <a:xfrm>
              <a:off x="1337800" y="3347125"/>
              <a:ext cx="1158600" cy="11412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50" name="Google Shape;750;p32"/>
            <p:cNvSpPr/>
            <p:nvPr/>
          </p:nvSpPr>
          <p:spPr>
            <a:xfrm rot="5400000">
              <a:off x="2412855" y="4441854"/>
              <a:ext cx="425397" cy="420826"/>
            </a:xfrm>
            <a:custGeom>
              <a:avLst/>
              <a:gdLst/>
              <a:ahLst/>
              <a:cxnLst/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1" name="Google Shape;751;p32"/>
          <p:cNvSpPr/>
          <p:nvPr/>
        </p:nvSpPr>
        <p:spPr>
          <a:xfrm rot="-5400000">
            <a:off x="5572485" y="-2452153"/>
            <a:ext cx="1971347" cy="6005438"/>
          </a:xfrm>
          <a:custGeom>
            <a:avLst/>
            <a:gdLst/>
            <a:ahLst/>
            <a:cxnLst/>
            <a:rect l="l" t="t" r="r" b="b"/>
            <a:pathLst>
              <a:path w="62917" h="191668" extrusionOk="0">
                <a:moveTo>
                  <a:pt x="0" y="0"/>
                </a:moveTo>
                <a:lnTo>
                  <a:pt x="0" y="21836"/>
                </a:lnTo>
                <a:lnTo>
                  <a:pt x="38334" y="60169"/>
                </a:lnTo>
                <a:lnTo>
                  <a:pt x="38334" y="81762"/>
                </a:lnTo>
                <a:lnTo>
                  <a:pt x="22442" y="97654"/>
                </a:lnTo>
                <a:lnTo>
                  <a:pt x="22442" y="116457"/>
                </a:lnTo>
                <a:lnTo>
                  <a:pt x="62917" y="139825"/>
                </a:lnTo>
                <a:lnTo>
                  <a:pt x="62917" y="191668"/>
                </a:lnTo>
              </a:path>
            </a:pathLst>
          </a:cu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752" name="Google Shape;752;p32"/>
          <p:cNvGrpSpPr/>
          <p:nvPr/>
        </p:nvGrpSpPr>
        <p:grpSpPr>
          <a:xfrm>
            <a:off x="7221623" y="1260360"/>
            <a:ext cx="1160062" cy="523162"/>
            <a:chOff x="7221623" y="1260360"/>
            <a:chExt cx="1160062" cy="523162"/>
          </a:xfrm>
        </p:grpSpPr>
        <p:sp>
          <p:nvSpPr>
            <p:cNvPr id="753" name="Google Shape;753;p32"/>
            <p:cNvSpPr/>
            <p:nvPr/>
          </p:nvSpPr>
          <p:spPr>
            <a:xfrm rot="-5400000">
              <a:off x="8141200" y="1059948"/>
              <a:ext cx="40056" cy="440880"/>
            </a:xfrm>
            <a:custGeom>
              <a:avLst/>
              <a:gdLst/>
              <a:ahLst/>
              <a:cxnLst/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32"/>
            <p:cNvSpPr/>
            <p:nvPr/>
          </p:nvSpPr>
          <p:spPr>
            <a:xfrm rot="5400000">
              <a:off x="7437562" y="1320304"/>
              <a:ext cx="43116" cy="474994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32"/>
            <p:cNvSpPr/>
            <p:nvPr/>
          </p:nvSpPr>
          <p:spPr>
            <a:xfrm rot="-5400000">
              <a:off x="7930383" y="1332221"/>
              <a:ext cx="75100" cy="827502"/>
            </a:xfrm>
            <a:custGeom>
              <a:avLst/>
              <a:gdLst/>
              <a:ahLst/>
              <a:cxnLst/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chnology Market Research Pitch Deck by Slidesgo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</Words>
  <Application>Microsoft Office PowerPoint</Application>
  <PresentationFormat>On-screen Show (16:9)</PresentationFormat>
  <Paragraphs>29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Raleway Black</vt:lpstr>
      <vt:lpstr>Raleway ExtraBold</vt:lpstr>
      <vt:lpstr>Hanken Grotesk</vt:lpstr>
      <vt:lpstr>Technology Market Research Pitch Deck by Slidesgo</vt:lpstr>
      <vt:lpstr>TECHMARKET</vt:lpstr>
      <vt:lpstr>Какво е TechMarket?</vt:lpstr>
      <vt:lpstr>Технологии - Frontend</vt:lpstr>
      <vt:lpstr>Технологии - Backend</vt:lpstr>
      <vt:lpstr>Демонстрация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Mihail Dimitrov</dc:creator>
  <cp:lastModifiedBy>Mihail Dimitrov</cp:lastModifiedBy>
  <cp:revision>1</cp:revision>
  <dcterms:modified xsi:type="dcterms:W3CDTF">2026-06-27T00:02:58Z</dcterms:modified>
</cp:coreProperties>
</file>